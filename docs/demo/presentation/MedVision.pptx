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ricolage Grotesque Bold"/>
      <p:regular r:id="rId201314"/>
    </p:embeddedFont>
    <p:embeddedFont>
      <p:font typeface="Figtree"/>
      <p:regular r:id="rId201315"/>
    </p:embeddedFont>
    <p:embeddedFont>
      <p:font typeface="Figtree Medium"/>
      <p:regular r:id="rId201316"/>
    </p:embeddedFont>
    <p:embeddedFont>
      <p:font typeface="Figtree SemiBold"/>
      <p:regular r:id="rId201317"/>
    </p:embeddedFont>
    <p:embeddedFont>
      <p:font typeface="Figtree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5A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5A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685800"/>
            <a:ext cx="5232269" cy="43141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60383" y="685800"/>
            <a:ext cx="5232269" cy="25400"/>
          </a:xfrm>
          <a:prstGeom prst="rect">
            <a:avLst/>
          </a:prstGeom>
          <a:solidFill>
            <a:srgbClr val="FF8A6B"/>
          </a:solidFill>
          <a:ln/>
        </p:spPr>
      </p:sp>
      <p:sp>
        <p:nvSpPr>
          <p:cNvPr id="4" name="Text 2"/>
          <p:cNvSpPr/>
          <p:nvPr/>
        </p:nvSpPr>
        <p:spPr>
          <a:xfrm>
            <a:off x="1041374" y="1066800"/>
            <a:ext cx="485127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20" kern="1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MEDVISION · TECHNICAL PROJECT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1374" y="1359071"/>
            <a:ext cx="4470288" cy="2084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57" kern="100" dirty="0">
                <a:solidFill>
                  <a:srgbClr val="000000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MedVision turns image segmentation into a study workflow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41374" y="3620195"/>
            <a:ext cx="4470288" cy="104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Upload, process, visualize, compare, and evaluate segmentation outputs in one place.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654634" y="5994400"/>
            <a:ext cx="4724282" cy="523875"/>
          </a:xfrm>
          <a:prstGeom prst="rect">
            <a:avLst/>
          </a:prstGeom>
          <a:solidFill>
            <a:srgbClr val="003A40">
              <a:alpha val="6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756231" y="6065441"/>
            <a:ext cx="452108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100" kern="100" dirty="0">
                <a:solidFill>
                  <a:srgbClr val="FFFFFF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ACADEMIC LEARNING AND EXPERIMENTATION SYSTEM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011734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20" kern="100" dirty="0">
                <a:solidFill>
                  <a:srgbClr val="C4E8E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09585" y="1429445"/>
            <a:ext cx="10972526" cy="25400"/>
          </a:xfrm>
          <a:prstGeom prst="roundRect">
            <a:avLst>
              <a:gd name="adj" fmla="val 49999"/>
            </a:avLst>
          </a:prstGeom>
          <a:solidFill>
            <a:srgbClr val="FF8A6B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881854"/>
            <a:ext cx="10972526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57" kern="100" dirty="0">
                <a:solidFill>
                  <a:srgbClr val="FFFFFF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Manual segmentation is slow, inconsistent, and sensitive to image conditions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5945" y="3151386"/>
            <a:ext cx="77785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spc="-44" kern="100" dirty="0">
                <a:solidFill>
                  <a:srgbClr val="FFB5A0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68371" y="3125986"/>
            <a:ext cx="10413739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900" dirty="0">
                <a:solidFill>
                  <a:srgbClr val="F2FBF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Brightness, contrast, noise, and uneven illumination can change the result.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15945" y="3989586"/>
            <a:ext cx="77785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spc="-44" kern="100" dirty="0">
                <a:solidFill>
                  <a:srgbClr val="FFB5A0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68371" y="3964186"/>
            <a:ext cx="10413739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900" dirty="0">
                <a:solidFill>
                  <a:srgbClr val="F2FBF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MedVision gives learners one place to upload, process, visualize, compare, and evaluate segmentation outputs.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15945" y="5171877"/>
            <a:ext cx="77785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spc="-44" kern="100" dirty="0">
                <a:solidFill>
                  <a:srgbClr val="FFB5A0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68371" y="5146477"/>
            <a:ext cx="10413739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900" dirty="0">
                <a:solidFill>
                  <a:srgbClr val="F2FBF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Position the project as an academic learning and experimentation system, not a standalone clinical diagnostic tool.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09585" y="3703836"/>
            <a:ext cx="10972526" cy="12700"/>
          </a:xfrm>
          <a:prstGeom prst="rect">
            <a:avLst/>
          </a:prstGeom>
          <a:solidFill>
            <a:srgbClr val="1E7F87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585" y="4886127"/>
            <a:ext cx="10972526" cy="12700"/>
          </a:xfrm>
          <a:prstGeom prst="rect">
            <a:avLst/>
          </a:prstGeom>
          <a:solidFill>
            <a:srgbClr val="1E7F8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6596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585" y="288131"/>
            <a:ext cx="5967362" cy="325437"/>
          </a:xfrm>
          <a:prstGeom prst="rect">
            <a:avLst/>
          </a:prstGeom>
          <a:solidFill>
            <a:srgbClr val="003A40">
              <a:alpha val="6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11182" y="359172"/>
            <a:ext cx="586576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100" kern="100" dirty="0">
                <a:solidFill>
                  <a:srgbClr val="F2FBFA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MEDVISION SYSTEM BOUNDARY · BROWSER TO ANALYSIS RESULTS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09585" y="1070769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20" kern="100" dirty="0">
                <a:solidFill>
                  <a:srgbClr val="C4E8E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09585" y="1488480"/>
            <a:ext cx="10972526" cy="25400"/>
          </a:xfrm>
          <a:prstGeom prst="roundRect">
            <a:avLst>
              <a:gd name="adj" fmla="val 49999"/>
            </a:avLst>
          </a:prstGeom>
          <a:solidFill>
            <a:srgbClr val="FF8A6B"/>
          </a:solidFill>
          <a:ln/>
        </p:spPr>
      </p:sp>
      <p:sp>
        <p:nvSpPr>
          <p:cNvPr id="7" name="Text 4"/>
          <p:cNvSpPr/>
          <p:nvPr/>
        </p:nvSpPr>
        <p:spPr>
          <a:xfrm>
            <a:off x="609585" y="1934984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FFFFFF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MedVision connects a web interface to image-processing services</a:t>
            </a:r>
            <a:endParaRPr lang="en-US" sz="3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311" y="2921099"/>
            <a:ext cx="6370974" cy="35559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29936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585" y="821531"/>
            <a:ext cx="5905848" cy="325437"/>
          </a:xfrm>
          <a:prstGeom prst="rect">
            <a:avLst/>
          </a:prstGeom>
          <a:solidFill>
            <a:srgbClr val="003A40">
              <a:alpha val="6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11182" y="885031"/>
            <a:ext cx="580425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100" kern="100" dirty="0">
                <a:solidFill>
                  <a:srgbClr val="F2FBFA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UPLOAD TO COMPARABLE RESULT · ANALYSIS HISTORY PRESERVED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09585" y="1451769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20" kern="100" dirty="0">
                <a:solidFill>
                  <a:srgbClr val="C4E8E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END-TO-END PIPELINE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09585" y="1869480"/>
            <a:ext cx="10972526" cy="25400"/>
          </a:xfrm>
          <a:prstGeom prst="roundRect">
            <a:avLst>
              <a:gd name="adj" fmla="val 49999"/>
            </a:avLst>
          </a:prstGeom>
          <a:solidFill>
            <a:srgbClr val="FF8A6B"/>
          </a:solidFill>
          <a:ln/>
        </p:spPr>
      </p:sp>
      <p:sp>
        <p:nvSpPr>
          <p:cNvPr id="7" name="Text 4"/>
          <p:cNvSpPr/>
          <p:nvPr/>
        </p:nvSpPr>
        <p:spPr>
          <a:xfrm>
            <a:off x="609585" y="2315984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FFFFFF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The segmentation pipeline turns an upload into a comparable result</a:t>
            </a:r>
            <a:endParaRPr lang="en-US" sz="3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626" y="3302099"/>
            <a:ext cx="7362442" cy="31749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11897" y="3678888"/>
            <a:ext cx="4048787" cy="203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spc="-20" kern="100" dirty="0">
                <a:solidFill>
                  <a:srgbClr val="000000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Authenticate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911897" y="4415133"/>
            <a:ext cx="4048787" cy="203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spc="-20" kern="100" dirty="0">
                <a:solidFill>
                  <a:srgbClr val="000000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Validate &amp; Decode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911897" y="5144016"/>
            <a:ext cx="4048787" cy="203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spc="-20" kern="100" dirty="0">
                <a:solidFill>
                  <a:srgbClr val="000000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Generate Mask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911897" y="5872899"/>
            <a:ext cx="4048787" cy="203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spc="-20" kern="100" dirty="0">
                <a:solidFill>
                  <a:srgbClr val="000000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Store &amp; History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20" kern="100" dirty="0">
                <a:solidFill>
                  <a:srgbClr val="C4E8E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ALGORITHM COMPARISON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09585" y="1027311"/>
            <a:ext cx="10972526" cy="25400"/>
          </a:xfrm>
          <a:prstGeom prst="roundRect">
            <a:avLst>
              <a:gd name="adj" fmla="val 49999"/>
            </a:avLst>
          </a:prstGeom>
          <a:solidFill>
            <a:srgbClr val="FF8A6B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479721"/>
            <a:ext cx="10972526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57" kern="100" dirty="0">
                <a:solidFill>
                  <a:srgbClr val="FFFFFF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Three thresholding methods expose different trade-offs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09585" y="2706707"/>
            <a:ext cx="3454314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Otsu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3154363"/>
            <a:ext cx="3454314" cy="2182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2FBF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Automatically selects one global threshold from the intensity distribution.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2FBF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Global threshold: Yes. Parameter tuning: Low. Uneven illumination: Limited. Main limitation: Histogram dependence.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68691" y="2706707"/>
            <a:ext cx="3454314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Manual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68691" y="3154363"/>
            <a:ext cx="3454314" cy="2182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2FBF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Gives the user direct control over a chosen threshold.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2FBF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Threshold selection: User-defined. Global threshold: Yes. Parameter tuning: Required. Uneven illumination: Limited. Main limitation: Manual tuning.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7797" y="2706707"/>
            <a:ext cx="3454314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Adaptive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7797" y="3154363"/>
            <a:ext cx="3454314" cy="2477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2FBF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Calculates local thresholds and can handle uneven illumination better, but adds parameter sensitivity.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2FBF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Threshold selection: Local adaptive. Global threshold: No. Parameter tuning: Required. Uneven illumination: Often better. Main limitation: Noise sensitivity.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711182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20" kern="100" dirty="0">
                <a:solidFill>
                  <a:srgbClr val="C4E8E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INSPECTION LAYER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09585" y="1027311"/>
            <a:ext cx="6502237" cy="25400"/>
          </a:xfrm>
          <a:prstGeom prst="roundRect">
            <a:avLst>
              <a:gd name="adj" fmla="val 49999"/>
            </a:avLst>
          </a:prstGeom>
          <a:solidFill>
            <a:srgbClr val="FF8A6B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479721"/>
            <a:ext cx="6502237" cy="156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57" kern="100" dirty="0">
                <a:solidFill>
                  <a:srgbClr val="FFFFFF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Visualization makes algorithm behavior easier to inspect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5945" y="3270448"/>
            <a:ext cx="77785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spc="-44" kern="100" dirty="0">
                <a:solidFill>
                  <a:srgbClr val="FFB5A0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68371" y="3245048"/>
            <a:ext cx="5943451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900" dirty="0">
                <a:solidFill>
                  <a:srgbClr val="F2FBF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Each analysis can expose the original image, the segmentation mask, and an overlay view.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15945" y="4474766"/>
            <a:ext cx="77785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spc="-44" kern="100" dirty="0">
                <a:solidFill>
                  <a:srgbClr val="FFB5A0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68371" y="4449366"/>
            <a:ext cx="5943451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900" dirty="0">
                <a:solidFill>
                  <a:srgbClr val="F2FBF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Repeating the workflow with another method makes differences visible instead of theoretical.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15945" y="5679083"/>
            <a:ext cx="77785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spc="-44" kern="100" dirty="0">
                <a:solidFill>
                  <a:srgbClr val="FFB5A0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68371" y="5653683"/>
            <a:ext cx="5943451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900" dirty="0">
                <a:solidFill>
                  <a:srgbClr val="F2FBF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History, filtering, renaming, and downloads support repeatable classroom or research demonstrations.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003A4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0001" y="228600"/>
            <a:ext cx="4013100" cy="589756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950001" y="6438503"/>
            <a:ext cx="424169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100" kern="100" dirty="0">
                <a:solidFill>
                  <a:srgbClr val="FFFFFF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ORIGINAL · MASK · OVERLAY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9585" y="4189016"/>
            <a:ext cx="6502237" cy="12700"/>
          </a:xfrm>
          <a:prstGeom prst="rect">
            <a:avLst/>
          </a:prstGeom>
          <a:solidFill>
            <a:srgbClr val="1E7F87"/>
          </a:solidFill>
          <a:ln/>
        </p:spPr>
      </p:sp>
      <p:sp>
        <p:nvSpPr>
          <p:cNvPr id="15" name="Shape 12"/>
          <p:cNvSpPr/>
          <p:nvPr/>
        </p:nvSpPr>
        <p:spPr>
          <a:xfrm>
            <a:off x="609585" y="5393333"/>
            <a:ext cx="6502237" cy="12700"/>
          </a:xfrm>
          <a:prstGeom prst="rect">
            <a:avLst/>
          </a:prstGeom>
          <a:solidFill>
            <a:srgbClr val="1E7F8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20" kern="100" dirty="0">
                <a:solidFill>
                  <a:srgbClr val="C4E8E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09585" y="1027311"/>
            <a:ext cx="10972526" cy="25400"/>
          </a:xfrm>
          <a:prstGeom prst="roundRect">
            <a:avLst>
              <a:gd name="adj" fmla="val 49999"/>
            </a:avLst>
          </a:prstGeom>
          <a:solidFill>
            <a:srgbClr val="FF8A6B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479721"/>
            <a:ext cx="10972526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57" kern="100" dirty="0">
                <a:solidFill>
                  <a:srgbClr val="FFFFFF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Dice and IoU turn visual comparison into measurable overlap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09585" y="2726650"/>
            <a:ext cx="5257668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Dice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148905"/>
            <a:ext cx="5257668" cy="6891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3958729"/>
            <a:ext cx="525766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2FBF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emphasizes shared area relative to the two regions.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24442" y="2726650"/>
            <a:ext cx="5257668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IoU</a:t>
            </a:r>
            <a:endParaRPr lang="en-US" sz="2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2" y="3148905"/>
            <a:ext cx="5257668" cy="6891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2" y="3958729"/>
            <a:ext cx="525766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2FBF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IoU compares shared area with the full combined region.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09585" y="4457502"/>
            <a:ext cx="5257668" cy="2044898"/>
          </a:xfrm>
          <a:prstGeom prst="rect">
            <a:avLst/>
          </a:prstGeom>
          <a:solidFill>
            <a:srgbClr val="003A40"/>
          </a:solidFill>
          <a:ln/>
        </p:spPr>
      </p:sp>
      <p:sp>
        <p:nvSpPr>
          <p:cNvPr id="12" name="Text 8"/>
          <p:cNvSpPr/>
          <p:nvPr/>
        </p:nvSpPr>
        <p:spPr>
          <a:xfrm>
            <a:off x="838179" y="4696452"/>
            <a:ext cx="4800480" cy="263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A ∩ B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838179" y="5095478"/>
            <a:ext cx="480048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predicted region and ground-truth region overlap.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324442" y="4457502"/>
            <a:ext cx="5257668" cy="2044898"/>
          </a:xfrm>
          <a:prstGeom prst="rect">
            <a:avLst/>
          </a:prstGeom>
          <a:solidFill>
            <a:srgbClr val="9FE3D9"/>
          </a:solidFill>
          <a:ln/>
        </p:spPr>
      </p:sp>
      <p:sp>
        <p:nvSpPr>
          <p:cNvPr id="15" name="Text 11"/>
          <p:cNvSpPr/>
          <p:nvPr/>
        </p:nvSpPr>
        <p:spPr>
          <a:xfrm>
            <a:off x="6553036" y="4696452"/>
            <a:ext cx="4800480" cy="263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Interpretation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553036" y="5095478"/>
            <a:ext cx="4800480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is the predicted region; B is the ground-truth region. Scores range from 0 to 1 in the usual interpretation, with higher values indicating greater overlap.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20" kern="100" dirty="0">
                <a:solidFill>
                  <a:srgbClr val="C4E8E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TRUST BOUNDARIES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09585" y="1027311"/>
            <a:ext cx="10972526" cy="25400"/>
          </a:xfrm>
          <a:prstGeom prst="roundRect">
            <a:avLst>
              <a:gd name="adj" fmla="val 49999"/>
            </a:avLst>
          </a:prstGeom>
          <a:solidFill>
            <a:srgbClr val="FF8A6B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479721"/>
            <a:ext cx="10972526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57" kern="100" dirty="0">
                <a:solidFill>
                  <a:srgbClr val="FFFFFF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Security and validation protect the analysis workflow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09585" y="2698452"/>
            <a:ext cx="3454314" cy="3549948"/>
          </a:xfrm>
          <a:prstGeom prst="rect">
            <a:avLst/>
          </a:prstGeom>
          <a:noFill/>
          <a:ln w="25399">
            <a:solidFill>
              <a:srgbClr val="38929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978" y="2977852"/>
            <a:ext cx="406390" cy="40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8978" y="3513157"/>
            <a:ext cx="2895528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Access control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88978" y="3960813"/>
            <a:ext cx="2895528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2FBF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Session authentication, authorization, CSRF protection, ownership checks, and login attempt limiting.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68691" y="2698452"/>
            <a:ext cx="3454314" cy="3549948"/>
          </a:xfrm>
          <a:prstGeom prst="rect">
            <a:avLst/>
          </a:prstGeom>
          <a:noFill/>
          <a:ln w="25399">
            <a:solidFill>
              <a:srgbClr val="38929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084" y="2977852"/>
            <a:ext cx="406390" cy="406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8084" y="3513157"/>
            <a:ext cx="2895528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Upload validation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648084" y="3960813"/>
            <a:ext cx="2895528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2FBF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Checks file type, size, decoding, dimensions, and controlled storage identifiers.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27797" y="2698452"/>
            <a:ext cx="3454314" cy="3549948"/>
          </a:xfrm>
          <a:prstGeom prst="rect">
            <a:avLst/>
          </a:prstGeom>
          <a:noFill/>
          <a:ln w="25399">
            <a:solidFill>
              <a:srgbClr val="38929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190" y="2977852"/>
            <a:ext cx="406390" cy="406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07190" y="3513157"/>
            <a:ext cx="2895528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Supported boundary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8407190" y="3960813"/>
            <a:ext cx="2895528" cy="147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2FBF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PNG and JPEG. The documented limits include 10 MiB maximum size and 4096-pixel maximum width and height.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20" kern="100" dirty="0">
                <a:solidFill>
                  <a:srgbClr val="C4E8E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BUILD APPROACH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09585" y="1027311"/>
            <a:ext cx="10972526" cy="25400"/>
          </a:xfrm>
          <a:prstGeom prst="roundRect">
            <a:avLst>
              <a:gd name="adj" fmla="val 49999"/>
            </a:avLst>
          </a:prstGeom>
          <a:solidFill>
            <a:srgbClr val="FF8A6B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479721"/>
            <a:ext cx="10972526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57" kern="100" dirty="0">
                <a:solidFill>
                  <a:srgbClr val="FFFFFF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The project was built as an incremental full-stack learning exercise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5945" y="2749252"/>
            <a:ext cx="77785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spc="-44" kern="100" dirty="0">
                <a:solidFill>
                  <a:srgbClr val="FFB5A0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68371" y="2708803"/>
            <a:ext cx="4851279" cy="263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Analyze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68371" y="3107829"/>
            <a:ext cx="4851279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2FBF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Analyze requirements and design the system and database.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78405" y="2749252"/>
            <a:ext cx="77785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spc="-44" kern="100" dirty="0">
                <a:solidFill>
                  <a:srgbClr val="FFB5A0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730832" y="2708803"/>
            <a:ext cx="4851279" cy="263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Implement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730832" y="3107829"/>
            <a:ext cx="4851279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2FBF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Implement backend APIs, storage, and segmentation algorithms.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5945" y="3900190"/>
            <a:ext cx="77785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spc="-44" kern="100" dirty="0">
                <a:solidFill>
                  <a:srgbClr val="FFB5A0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68371" y="3859740"/>
            <a:ext cx="4851279" cy="263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Build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68371" y="4258766"/>
            <a:ext cx="4851279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2FBF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Build the frontend workflow and add authentication and validation.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78405" y="3900190"/>
            <a:ext cx="77785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spc="-44" kern="100" dirty="0">
                <a:solidFill>
                  <a:srgbClr val="FFB5A0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30832" y="3859740"/>
            <a:ext cx="4851279" cy="263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Demonstrate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730832" y="4258766"/>
            <a:ext cx="4851279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2FBF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Test, document, and demonstrate the complete experience.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585" y="5042428"/>
            <a:ext cx="5333867" cy="263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Testing coverage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9585" y="5441454"/>
            <a:ext cx="533386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2FBF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Authentication, uploads, storage, authorization, algorithms, evaluation, database mappings, and API errors.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48244" y="5042428"/>
            <a:ext cx="5333867" cy="263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Frontend checks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248244" y="5441454"/>
            <a:ext cx="533386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2FBF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TypeScript validation, ESLint, and the Next.js production build.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20" kern="100" dirty="0">
                <a:solidFill>
                  <a:srgbClr val="C4E8E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OUTLOOK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09585" y="1027311"/>
            <a:ext cx="10972526" cy="25400"/>
          </a:xfrm>
          <a:prstGeom prst="roundRect">
            <a:avLst>
              <a:gd name="adj" fmla="val 49999"/>
            </a:avLst>
          </a:prstGeom>
          <a:solidFill>
            <a:srgbClr val="FF8A6B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479721"/>
            <a:ext cx="10972526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57" kern="100" dirty="0">
                <a:solidFill>
                  <a:srgbClr val="FFFFFF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MedVision is a foundation for deeper medical image analysis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09585" y="2698452"/>
            <a:ext cx="3454314" cy="3549948"/>
          </a:xfrm>
          <a:prstGeom prst="rect">
            <a:avLst/>
          </a:prstGeom>
          <a:solidFill>
            <a:srgbClr val="003A40"/>
          </a:solidFill>
          <a:ln/>
        </p:spPr>
      </p:sp>
      <p:sp>
        <p:nvSpPr>
          <p:cNvPr id="6" name="Text 4"/>
          <p:cNvSpPr/>
          <p:nvPr/>
        </p:nvSpPr>
        <p:spPr>
          <a:xfrm>
            <a:off x="888978" y="2986107"/>
            <a:ext cx="2895528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Current achievement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88978" y="3433763"/>
            <a:ext cx="2895528" cy="147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web-based workflow connecting conventional segmentation, visualization, history, downloads, and evaluation.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68691" y="2698452"/>
            <a:ext cx="3454314" cy="3549948"/>
          </a:xfrm>
          <a:prstGeom prst="rect">
            <a:avLst/>
          </a:prstGeom>
          <a:noFill/>
          <a:ln w="25399">
            <a:solidFill>
              <a:srgbClr val="3892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73483" y="3011507"/>
            <a:ext cx="2844729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Current limits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73483" y="3459163"/>
            <a:ext cx="2844729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2FBF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Threshold methods vary with image characteristics, and no validated clinical performance is claimed.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7797" y="2698452"/>
            <a:ext cx="3454314" cy="3549948"/>
          </a:xfrm>
          <a:prstGeom prst="rect">
            <a:avLst/>
          </a:prstGeom>
          <a:solidFill>
            <a:srgbClr val="FF8A6B"/>
          </a:solidFill>
          <a:ln/>
        </p:spPr>
      </p:sp>
      <p:sp>
        <p:nvSpPr>
          <p:cNvPr id="12" name="Text 10"/>
          <p:cNvSpPr/>
          <p:nvPr/>
        </p:nvSpPr>
        <p:spPr>
          <a:xfrm>
            <a:off x="8407190" y="2986107"/>
            <a:ext cx="2895528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07190" y="3433763"/>
            <a:ext cx="2895528" cy="147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Add specialized formats, more algorithms, deep-learning segmentation, stronger experiment tracking, and production monitoring.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2026-10-14T18:38:24Z</dcterms:created>
  <dcterms:modified xsi:type="dcterms:W3CDTF">2026-10-14T18:38:24Z</dcterms:modified>
</cp:coreProperties>
</file>